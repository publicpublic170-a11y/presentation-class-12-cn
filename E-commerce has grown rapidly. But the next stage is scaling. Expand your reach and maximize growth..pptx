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Neue Machina Ultra-Bold" charset="1" panose="00000900000000000000"/>
      <p:regular r:id="rId13"/>
    </p:embeddedFont>
    <p:embeddedFont>
      <p:font typeface="Montserrat" charset="1" panose="00000500000000000000"/>
      <p:regular r:id="rId14"/>
    </p:embeddedFont>
    <p:embeddedFont>
      <p:font typeface="Neue Machina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151061" y="0"/>
            <a:ext cx="10287000" cy="10287000"/>
          </a:xfrm>
          <a:custGeom>
            <a:avLst/>
            <a:gdLst/>
            <a:ahLst/>
            <a:cxnLst/>
            <a:rect r="r" b="b" t="t" l="l"/>
            <a:pathLst>
              <a:path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36606" y="3692523"/>
            <a:ext cx="9803430" cy="2161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7"/>
              </a:lnSpc>
            </a:pPr>
            <a:r>
              <a:rPr lang="en-US" b="true" sz="6837" spc="54">
                <a:solidFill>
                  <a:srgbClr val="231971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The scope of E-commerce in Nepal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36606" y="6327585"/>
            <a:ext cx="8854959" cy="312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2413" indent="-321207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2A2742"/>
                </a:solidFill>
                <a:latin typeface="Montserrat"/>
                <a:ea typeface="Montserrat"/>
                <a:cs typeface="Montserrat"/>
                <a:sym typeface="Montserrat"/>
              </a:rPr>
              <a:t>E-commerce means buying and selling goods or services using the internet</a:t>
            </a:r>
          </a:p>
          <a:p>
            <a:pPr algn="l">
              <a:lnSpc>
                <a:spcPts val="4165"/>
              </a:lnSpc>
            </a:pPr>
          </a:p>
          <a:p>
            <a:pPr algn="l" marL="642413" indent="-321207" lvl="1">
              <a:lnSpc>
                <a:spcPts val="4165"/>
              </a:lnSpc>
              <a:buFont typeface="Arial"/>
              <a:buChar char="•"/>
            </a:pPr>
            <a:r>
              <a:rPr lang="en-US" sz="2975">
                <a:solidFill>
                  <a:srgbClr val="2A2742"/>
                </a:solidFill>
                <a:latin typeface="Montserrat"/>
                <a:ea typeface="Montserrat"/>
                <a:cs typeface="Montserrat"/>
                <a:sym typeface="Montserrat"/>
              </a:rPr>
              <a:t> It is growing rapidly in Nepal as more people use smartphones and online payments.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6606" y="2983378"/>
            <a:ext cx="4586953" cy="290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8"/>
              </a:lnSpc>
            </a:pPr>
            <a:r>
              <a:rPr lang="en-US" sz="1705">
                <a:solidFill>
                  <a:srgbClr val="231971"/>
                </a:solidFill>
                <a:latin typeface="Neue Machina"/>
                <a:ea typeface="Neue Machina"/>
                <a:cs typeface="Neue Machina"/>
                <a:sym typeface="Neue Machina"/>
              </a:rPr>
              <a:t>@aashishsubedi478@gmail.com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36606" y="2420537"/>
            <a:ext cx="4936182" cy="43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2464" spc="1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Submitted  By: Aashish Subedi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62863" y="9852457"/>
            <a:ext cx="5588198" cy="43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2464" spc="19">
                <a:solidFill>
                  <a:srgbClr val="000000"/>
                </a:solidFill>
                <a:latin typeface="Neue Machina"/>
                <a:ea typeface="Neue Machina"/>
                <a:cs typeface="Neue Machina"/>
                <a:sym typeface="Neue Machina"/>
              </a:rPr>
              <a:t>Submitted  To: Sir Mukesh Mahato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67730" y="3601980"/>
            <a:ext cx="704881" cy="667714"/>
          </a:xfrm>
          <a:custGeom>
            <a:avLst/>
            <a:gdLst/>
            <a:ahLst/>
            <a:cxnLst/>
            <a:rect r="r" b="b" t="t" l="l"/>
            <a:pathLst>
              <a:path h="667714" w="704881">
                <a:moveTo>
                  <a:pt x="0" y="0"/>
                </a:moveTo>
                <a:lnTo>
                  <a:pt x="704881" y="0"/>
                </a:lnTo>
                <a:lnTo>
                  <a:pt x="704881" y="667714"/>
                </a:lnTo>
                <a:lnTo>
                  <a:pt x="0" y="667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04896" y="6569302"/>
            <a:ext cx="667714" cy="667714"/>
          </a:xfrm>
          <a:custGeom>
            <a:avLst/>
            <a:gdLst/>
            <a:ahLst/>
            <a:cxnLst/>
            <a:rect r="r" b="b" t="t" l="l"/>
            <a:pathLst>
              <a:path h="667714" w="667714">
                <a:moveTo>
                  <a:pt x="0" y="0"/>
                </a:moveTo>
                <a:lnTo>
                  <a:pt x="667715" y="0"/>
                </a:lnTo>
                <a:lnTo>
                  <a:pt x="667715" y="667714"/>
                </a:lnTo>
                <a:lnTo>
                  <a:pt x="0" y="6677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41070" y="3601980"/>
            <a:ext cx="641006" cy="667714"/>
          </a:xfrm>
          <a:custGeom>
            <a:avLst/>
            <a:gdLst/>
            <a:ahLst/>
            <a:cxnLst/>
            <a:rect r="r" b="b" t="t" l="l"/>
            <a:pathLst>
              <a:path h="667714" w="641006">
                <a:moveTo>
                  <a:pt x="0" y="0"/>
                </a:moveTo>
                <a:lnTo>
                  <a:pt x="641006" y="0"/>
                </a:lnTo>
                <a:lnTo>
                  <a:pt x="641006" y="667714"/>
                </a:lnTo>
                <a:lnTo>
                  <a:pt x="0" y="6677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443157" y="6569302"/>
            <a:ext cx="738919" cy="667714"/>
          </a:xfrm>
          <a:custGeom>
            <a:avLst/>
            <a:gdLst/>
            <a:ahLst/>
            <a:cxnLst/>
            <a:rect r="r" b="b" t="t" l="l"/>
            <a:pathLst>
              <a:path h="667714" w="738919">
                <a:moveTo>
                  <a:pt x="0" y="0"/>
                </a:moveTo>
                <a:lnTo>
                  <a:pt x="738919" y="0"/>
                </a:lnTo>
                <a:lnTo>
                  <a:pt x="738919" y="667714"/>
                </a:lnTo>
                <a:lnTo>
                  <a:pt x="0" y="6677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11892" y="4269694"/>
            <a:ext cx="7612847" cy="7612847"/>
          </a:xfrm>
          <a:custGeom>
            <a:avLst/>
            <a:gdLst/>
            <a:ahLst/>
            <a:cxnLst/>
            <a:rect r="r" b="b" t="t" l="l"/>
            <a:pathLst>
              <a:path h="7612847" w="7612847">
                <a:moveTo>
                  <a:pt x="0" y="0"/>
                </a:moveTo>
                <a:lnTo>
                  <a:pt x="7612847" y="0"/>
                </a:lnTo>
                <a:lnTo>
                  <a:pt x="7612847" y="7612848"/>
                </a:lnTo>
                <a:lnTo>
                  <a:pt x="0" y="761284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074615"/>
            <a:ext cx="17679221" cy="8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5122" spc="4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 Cu</a:t>
            </a:r>
            <a:r>
              <a:rPr lang="en-US" sz="5122" spc="4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rrent Situation of E-commerce in Nepal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31510" y="4505146"/>
            <a:ext cx="4203028" cy="8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ncreasing number of online shoppers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43892" y="4514671"/>
            <a:ext cx="4203028" cy="752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7"/>
              </a:lnSpc>
            </a:pPr>
            <a:r>
              <a:rPr lang="en-US" sz="19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Popular platforms like Daraz, SastoDeal, Foodmandu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31510" y="7475141"/>
            <a:ext cx="4203028" cy="8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Growth of digital wallets (Khalti, eSewa)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43892" y="7475141"/>
            <a:ext cx="4203028" cy="8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Rising internet and smartphone access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2705" y="0"/>
            <a:ext cx="10635295" cy="2571750"/>
            <a:chOff x="0" y="0"/>
            <a:chExt cx="2814124" cy="68049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652705" y="5143500"/>
            <a:ext cx="10635295" cy="2571750"/>
            <a:chOff x="0" y="0"/>
            <a:chExt cx="2814124" cy="6804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52705" y="2571750"/>
            <a:ext cx="10635295" cy="2571750"/>
            <a:chOff x="0" y="0"/>
            <a:chExt cx="2814124" cy="6804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7667E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652705" y="7715250"/>
            <a:ext cx="10635295" cy="2571750"/>
            <a:chOff x="0" y="0"/>
            <a:chExt cx="2814124" cy="6804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14124" cy="680491"/>
            </a:xfrm>
            <a:custGeom>
              <a:avLst/>
              <a:gdLst/>
              <a:ahLst/>
              <a:cxnLst/>
              <a:rect r="r" b="b" t="t" l="l"/>
              <a:pathLst>
                <a:path h="680491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680491"/>
                  </a:lnTo>
                  <a:lnTo>
                    <a:pt x="0" y="680491"/>
                  </a:lnTo>
                  <a:close/>
                </a:path>
              </a:pathLst>
            </a:custGeom>
            <a:solidFill>
              <a:srgbClr val="D6483A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814124" cy="737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442613" y="777140"/>
            <a:ext cx="6316031" cy="49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Sav</a:t>
            </a: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es time and effort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42613" y="5920640"/>
            <a:ext cx="6316031" cy="497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Useful for remote areas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442613" y="3348890"/>
            <a:ext cx="6316031" cy="10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Easy access to products and services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42613" y="8492390"/>
            <a:ext cx="6316031" cy="10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Helps small businesses reach more customers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92798" y="672453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92798" y="5815953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92798" y="3244203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92798" y="8387703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5741" y="739040"/>
            <a:ext cx="6386964" cy="178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5122" spc="40">
                <a:solidFill>
                  <a:srgbClr val="231971"/>
                </a:solidFill>
                <a:latin typeface="Neue Machina"/>
                <a:ea typeface="Neue Machina"/>
                <a:cs typeface="Neue Machina"/>
                <a:sym typeface="Neue Machina"/>
              </a:rPr>
              <a:t>Importance of E-commerce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541070" y="3601980"/>
            <a:ext cx="641006" cy="667714"/>
          </a:xfrm>
          <a:custGeom>
            <a:avLst/>
            <a:gdLst/>
            <a:ahLst/>
            <a:cxnLst/>
            <a:rect r="r" b="b" t="t" l="l"/>
            <a:pathLst>
              <a:path h="667714" w="641006">
                <a:moveTo>
                  <a:pt x="0" y="0"/>
                </a:moveTo>
                <a:lnTo>
                  <a:pt x="641006" y="0"/>
                </a:lnTo>
                <a:lnTo>
                  <a:pt x="641006" y="667714"/>
                </a:lnTo>
                <a:lnTo>
                  <a:pt x="0" y="667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67730" y="6569302"/>
            <a:ext cx="1082177" cy="631598"/>
          </a:xfrm>
          <a:custGeom>
            <a:avLst/>
            <a:gdLst/>
            <a:ahLst/>
            <a:cxnLst/>
            <a:rect r="r" b="b" t="t" l="l"/>
            <a:pathLst>
              <a:path h="631598" w="1082177">
                <a:moveTo>
                  <a:pt x="0" y="0"/>
                </a:moveTo>
                <a:lnTo>
                  <a:pt x="1082177" y="0"/>
                </a:lnTo>
                <a:lnTo>
                  <a:pt x="1082177" y="631598"/>
                </a:lnTo>
                <a:lnTo>
                  <a:pt x="0" y="6315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467730" y="3478959"/>
            <a:ext cx="572003" cy="752636"/>
          </a:xfrm>
          <a:custGeom>
            <a:avLst/>
            <a:gdLst/>
            <a:ahLst/>
            <a:cxnLst/>
            <a:rect r="r" b="b" t="t" l="l"/>
            <a:pathLst>
              <a:path h="752636" w="572003">
                <a:moveTo>
                  <a:pt x="0" y="0"/>
                </a:moveTo>
                <a:lnTo>
                  <a:pt x="572003" y="0"/>
                </a:lnTo>
                <a:lnTo>
                  <a:pt x="572003" y="752635"/>
                </a:lnTo>
                <a:lnTo>
                  <a:pt x="0" y="7526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41070" y="6605418"/>
            <a:ext cx="689481" cy="631598"/>
          </a:xfrm>
          <a:custGeom>
            <a:avLst/>
            <a:gdLst/>
            <a:ahLst/>
            <a:cxnLst/>
            <a:rect r="r" b="b" t="t" l="l"/>
            <a:pathLst>
              <a:path h="631598" w="689481">
                <a:moveTo>
                  <a:pt x="0" y="0"/>
                </a:moveTo>
                <a:lnTo>
                  <a:pt x="689482" y="0"/>
                </a:lnTo>
                <a:lnTo>
                  <a:pt x="689482" y="631598"/>
                </a:lnTo>
                <a:lnTo>
                  <a:pt x="0" y="6315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3140753" y="5013021"/>
            <a:ext cx="7641306" cy="8559508"/>
          </a:xfrm>
          <a:custGeom>
            <a:avLst/>
            <a:gdLst/>
            <a:ahLst/>
            <a:cxnLst/>
            <a:rect r="r" b="b" t="t" l="l"/>
            <a:pathLst>
              <a:path h="8559508" w="7641306">
                <a:moveTo>
                  <a:pt x="0" y="0"/>
                </a:moveTo>
                <a:lnTo>
                  <a:pt x="7641306" y="0"/>
                </a:lnTo>
                <a:lnTo>
                  <a:pt x="7641306" y="8559507"/>
                </a:lnTo>
                <a:lnTo>
                  <a:pt x="0" y="855950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17883" y="1163480"/>
            <a:ext cx="11627523" cy="879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5122" spc="4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Scope / Opportunities in Nepal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86432" y="4681398"/>
            <a:ext cx="4203028" cy="8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Growing youth population using digital services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541070" y="4681398"/>
            <a:ext cx="4203028" cy="81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0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Expansion of mobile banking and wallets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86432" y="7645146"/>
            <a:ext cx="4203028" cy="1233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5"/>
              </a:lnSpc>
            </a:pPr>
            <a:r>
              <a:rPr lang="en-US" sz="20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More local products can go national/international</a:t>
            </a:r>
          </a:p>
          <a:p>
            <a:pPr algn="l">
              <a:lnSpc>
                <a:spcPts val="330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243892" y="7452119"/>
            <a:ext cx="4203028" cy="848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2"/>
              </a:lnSpc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Increased job opportunities (IT, delivery, support)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652705" y="638175"/>
            <a:ext cx="10635295" cy="1455979"/>
            <a:chOff x="0" y="0"/>
            <a:chExt cx="2814124" cy="38525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14124" cy="385255"/>
            </a:xfrm>
            <a:custGeom>
              <a:avLst/>
              <a:gdLst/>
              <a:ahLst/>
              <a:cxnLst/>
              <a:rect r="r" b="b" t="t" l="l"/>
              <a:pathLst>
                <a:path h="385255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385255"/>
                  </a:lnTo>
                  <a:lnTo>
                    <a:pt x="0" y="385255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814124" cy="442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442613" y="832271"/>
            <a:ext cx="6316031" cy="10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Delivery problems in rural areas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86288" y="663422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01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652705" y="6293780"/>
            <a:ext cx="10635295" cy="1469648"/>
            <a:chOff x="0" y="0"/>
            <a:chExt cx="2814124" cy="3888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14124" cy="388872"/>
            </a:xfrm>
            <a:custGeom>
              <a:avLst/>
              <a:gdLst/>
              <a:ahLst/>
              <a:cxnLst/>
              <a:rect r="r" b="b" t="t" l="l"/>
              <a:pathLst>
                <a:path h="388872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388872"/>
                  </a:lnTo>
                  <a:lnTo>
                    <a:pt x="0" y="388872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814124" cy="446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442613" y="6695059"/>
            <a:ext cx="6316031" cy="10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b="true" sz="2842" spc="22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Payment system issues for international transactions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805105" y="6510344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04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52705" y="2418316"/>
            <a:ext cx="10635295" cy="1506196"/>
            <a:chOff x="0" y="0"/>
            <a:chExt cx="2814124" cy="39854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14124" cy="398543"/>
            </a:xfrm>
            <a:custGeom>
              <a:avLst/>
              <a:gdLst/>
              <a:ahLst/>
              <a:cxnLst/>
              <a:rect r="r" b="b" t="t" l="l"/>
              <a:pathLst>
                <a:path h="398543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398543"/>
                  </a:lnTo>
                  <a:lnTo>
                    <a:pt x="0" y="398543"/>
                  </a:lnTo>
                  <a:close/>
                </a:path>
              </a:pathLst>
            </a:custGeom>
            <a:solidFill>
              <a:srgbClr val="7667E1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814124" cy="455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0442613" y="3028539"/>
            <a:ext cx="6316031" cy="10011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spc="22" b="true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Trust and security concerns</a:t>
            </a:r>
          </a:p>
          <a:p>
            <a:pPr algn="l">
              <a:lnSpc>
                <a:spcPts val="397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7805105" y="2573811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5741" y="739040"/>
            <a:ext cx="6386964" cy="181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1"/>
              </a:lnSpc>
            </a:pPr>
            <a:r>
              <a:rPr lang="en-US" sz="5222" spc="41">
                <a:solidFill>
                  <a:srgbClr val="231971"/>
                </a:solidFill>
                <a:latin typeface="Neue Machina"/>
                <a:ea typeface="Neue Machina"/>
                <a:cs typeface="Neue Machina"/>
                <a:sym typeface="Neue Machina"/>
              </a:rPr>
              <a:t> Challenges in Nepal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652705" y="4323566"/>
            <a:ext cx="10635295" cy="1455979"/>
            <a:chOff x="0" y="0"/>
            <a:chExt cx="2814124" cy="38525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14124" cy="385255"/>
            </a:xfrm>
            <a:custGeom>
              <a:avLst/>
              <a:gdLst/>
              <a:ahLst/>
              <a:cxnLst/>
              <a:rect r="r" b="b" t="t" l="l"/>
              <a:pathLst>
                <a:path h="385255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385255"/>
                  </a:lnTo>
                  <a:lnTo>
                    <a:pt x="0" y="385255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814124" cy="442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7805105" y="4276936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442613" y="4609606"/>
            <a:ext cx="6316031" cy="150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spc="22" b="true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Slow or unstable internet in some regions</a:t>
            </a:r>
          </a:p>
          <a:p>
            <a:pPr algn="l">
              <a:lnSpc>
                <a:spcPts val="3979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7652705" y="8163478"/>
            <a:ext cx="10635295" cy="1506196"/>
            <a:chOff x="0" y="0"/>
            <a:chExt cx="2814124" cy="39854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14124" cy="398543"/>
            </a:xfrm>
            <a:custGeom>
              <a:avLst/>
              <a:gdLst/>
              <a:ahLst/>
              <a:cxnLst/>
              <a:rect r="r" b="b" t="t" l="l"/>
              <a:pathLst>
                <a:path h="398543" w="2814124">
                  <a:moveTo>
                    <a:pt x="0" y="0"/>
                  </a:moveTo>
                  <a:lnTo>
                    <a:pt x="2814124" y="0"/>
                  </a:lnTo>
                  <a:lnTo>
                    <a:pt x="2814124" y="398543"/>
                  </a:lnTo>
                  <a:lnTo>
                    <a:pt x="0" y="398543"/>
                  </a:lnTo>
                  <a:close/>
                </a:path>
              </a:pathLst>
            </a:custGeom>
            <a:solidFill>
              <a:srgbClr val="7667E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814124" cy="455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805105" y="8211103"/>
            <a:ext cx="1722742" cy="125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12"/>
              </a:lnSpc>
            </a:pPr>
            <a:r>
              <a:rPr lang="en-US" b="true" sz="7222" spc="57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42613" y="8472749"/>
            <a:ext cx="6316031" cy="150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9"/>
              </a:lnSpc>
            </a:pPr>
            <a:r>
              <a:rPr lang="en-US" sz="2842" spc="22" b="true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Limited digital literacy</a:t>
            </a:r>
          </a:p>
          <a:p>
            <a:pPr algn="l">
              <a:lnSpc>
                <a:spcPts val="3979"/>
              </a:lnSpc>
            </a:pPr>
          </a:p>
          <a:p>
            <a:pPr algn="l">
              <a:lnSpc>
                <a:spcPts val="397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67730" y="4067687"/>
            <a:ext cx="816160" cy="768675"/>
          </a:xfrm>
          <a:custGeom>
            <a:avLst/>
            <a:gdLst/>
            <a:ahLst/>
            <a:cxnLst/>
            <a:rect r="r" b="b" t="t" l="l"/>
            <a:pathLst>
              <a:path h="768675" w="816160">
                <a:moveTo>
                  <a:pt x="0" y="0"/>
                </a:moveTo>
                <a:lnTo>
                  <a:pt x="816160" y="0"/>
                </a:lnTo>
                <a:lnTo>
                  <a:pt x="816160" y="768675"/>
                </a:lnTo>
                <a:lnTo>
                  <a:pt x="0" y="7686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31140" y="5559635"/>
            <a:ext cx="752750" cy="682950"/>
          </a:xfrm>
          <a:custGeom>
            <a:avLst/>
            <a:gdLst/>
            <a:ahLst/>
            <a:cxnLst/>
            <a:rect r="r" b="b" t="t" l="l"/>
            <a:pathLst>
              <a:path h="682950" w="752750">
                <a:moveTo>
                  <a:pt x="0" y="0"/>
                </a:moveTo>
                <a:lnTo>
                  <a:pt x="752750" y="0"/>
                </a:lnTo>
                <a:lnTo>
                  <a:pt x="752750" y="682950"/>
                </a:lnTo>
                <a:lnTo>
                  <a:pt x="0" y="6829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126052" y="5013021"/>
            <a:ext cx="7480924" cy="7882200"/>
          </a:xfrm>
          <a:custGeom>
            <a:avLst/>
            <a:gdLst/>
            <a:ahLst/>
            <a:cxnLst/>
            <a:rect r="r" b="b" t="t" l="l"/>
            <a:pathLst>
              <a:path h="7882200" w="7480924">
                <a:moveTo>
                  <a:pt x="0" y="0"/>
                </a:moveTo>
                <a:lnTo>
                  <a:pt x="7480924" y="0"/>
                </a:lnTo>
                <a:lnTo>
                  <a:pt x="7480924" y="7882199"/>
                </a:lnTo>
                <a:lnTo>
                  <a:pt x="0" y="78821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116838" y="-2500647"/>
            <a:ext cx="5171162" cy="5448542"/>
          </a:xfrm>
          <a:custGeom>
            <a:avLst/>
            <a:gdLst/>
            <a:ahLst/>
            <a:cxnLst/>
            <a:rect r="r" b="b" t="t" l="l"/>
            <a:pathLst>
              <a:path h="5448542" w="5171162">
                <a:moveTo>
                  <a:pt x="0" y="0"/>
                </a:moveTo>
                <a:lnTo>
                  <a:pt x="5171162" y="0"/>
                </a:lnTo>
                <a:lnTo>
                  <a:pt x="5171162" y="5448542"/>
                </a:lnTo>
                <a:lnTo>
                  <a:pt x="0" y="54485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58115" y="6603179"/>
            <a:ext cx="898801" cy="1193489"/>
          </a:xfrm>
          <a:custGeom>
            <a:avLst/>
            <a:gdLst/>
            <a:ahLst/>
            <a:cxnLst/>
            <a:rect r="r" b="b" t="t" l="l"/>
            <a:pathLst>
              <a:path h="1193489" w="898801">
                <a:moveTo>
                  <a:pt x="0" y="0"/>
                </a:moveTo>
                <a:lnTo>
                  <a:pt x="898801" y="0"/>
                </a:lnTo>
                <a:lnTo>
                  <a:pt x="898801" y="1193490"/>
                </a:lnTo>
                <a:lnTo>
                  <a:pt x="0" y="11934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29905" y="8158619"/>
            <a:ext cx="555220" cy="555220"/>
          </a:xfrm>
          <a:custGeom>
            <a:avLst/>
            <a:gdLst/>
            <a:ahLst/>
            <a:cxnLst/>
            <a:rect r="r" b="b" t="t" l="l"/>
            <a:pathLst>
              <a:path h="555220" w="555220">
                <a:moveTo>
                  <a:pt x="0" y="0"/>
                </a:moveTo>
                <a:lnTo>
                  <a:pt x="555221" y="0"/>
                </a:lnTo>
                <a:lnTo>
                  <a:pt x="555221" y="555220"/>
                </a:lnTo>
                <a:lnTo>
                  <a:pt x="0" y="55522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17883" y="1163480"/>
            <a:ext cx="9329717" cy="178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71"/>
              </a:lnSpc>
            </a:pPr>
            <a:r>
              <a:rPr lang="en-US" sz="5122" spc="40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Government Support &amp; Future Trends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5014" y="4212544"/>
            <a:ext cx="9234689" cy="42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64" spc="1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Digital Nepal Framework promoting online services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49985" y="5661630"/>
            <a:ext cx="8392529" cy="421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464" spc="1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Expansion of digital payment systems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5014" y="6949954"/>
            <a:ext cx="8322469" cy="43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442" spc="1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P</a:t>
            </a:r>
            <a:r>
              <a:rPr lang="en-US" sz="2442" spc="1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ossibility of AI-based services and faster delivery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20926" y="8186259"/>
            <a:ext cx="10281493" cy="433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9"/>
              </a:lnSpc>
              <a:spcBef>
                <a:spcPct val="0"/>
              </a:spcBef>
            </a:pPr>
            <a:r>
              <a:rPr lang="en-US" sz="2442" spc="19">
                <a:solidFill>
                  <a:srgbClr val="FFFFFF"/>
                </a:solidFill>
                <a:latin typeface="Neue Machina"/>
                <a:ea typeface="Neue Machina"/>
                <a:cs typeface="Neue Machina"/>
                <a:sym typeface="Neue Machina"/>
              </a:rPr>
              <a:t>More startups entering e-commerce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21966" y="865529"/>
            <a:ext cx="14644068" cy="1971495"/>
            <a:chOff x="0" y="0"/>
            <a:chExt cx="3856874" cy="51924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56874" cy="519242"/>
            </a:xfrm>
            <a:custGeom>
              <a:avLst/>
              <a:gdLst/>
              <a:ahLst/>
              <a:cxnLst/>
              <a:rect r="r" b="b" t="t" l="l"/>
              <a:pathLst>
                <a:path h="519242" w="3856874">
                  <a:moveTo>
                    <a:pt x="0" y="0"/>
                  </a:moveTo>
                  <a:lnTo>
                    <a:pt x="3856874" y="0"/>
                  </a:lnTo>
                  <a:lnTo>
                    <a:pt x="3856874" y="519242"/>
                  </a:lnTo>
                  <a:lnTo>
                    <a:pt x="0" y="519242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3856874" cy="576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979208" y="-162674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06008" y="779894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68089" y="1443476"/>
            <a:ext cx="12351822" cy="729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0"/>
              </a:lnSpc>
            </a:pPr>
            <a:r>
              <a:rPr lang="en-US" b="true" sz="4264" spc="34">
                <a:solidFill>
                  <a:srgbClr val="FFFFFF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Conclusion and Key Takeaways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308792" y="3367433"/>
            <a:ext cx="13670416" cy="1930742"/>
            <a:chOff x="0" y="0"/>
            <a:chExt cx="3856874" cy="5447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56874" cy="544726"/>
            </a:xfrm>
            <a:custGeom>
              <a:avLst/>
              <a:gdLst/>
              <a:ahLst/>
              <a:cxnLst/>
              <a:rect r="r" b="b" t="t" l="l"/>
              <a:pathLst>
                <a:path h="544726" w="3856874">
                  <a:moveTo>
                    <a:pt x="0" y="0"/>
                  </a:moveTo>
                  <a:lnTo>
                    <a:pt x="3856874" y="0"/>
                  </a:lnTo>
                  <a:lnTo>
                    <a:pt x="3856874" y="544726"/>
                  </a:lnTo>
                  <a:lnTo>
                    <a:pt x="0" y="544726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856874" cy="60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08792" y="5646516"/>
            <a:ext cx="13670416" cy="1930742"/>
            <a:chOff x="0" y="0"/>
            <a:chExt cx="3856874" cy="5447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56874" cy="544726"/>
            </a:xfrm>
            <a:custGeom>
              <a:avLst/>
              <a:gdLst/>
              <a:ahLst/>
              <a:cxnLst/>
              <a:rect r="r" b="b" t="t" l="l"/>
              <a:pathLst>
                <a:path h="544726" w="3856874">
                  <a:moveTo>
                    <a:pt x="0" y="0"/>
                  </a:moveTo>
                  <a:lnTo>
                    <a:pt x="3856874" y="0"/>
                  </a:lnTo>
                  <a:lnTo>
                    <a:pt x="3856874" y="544726"/>
                  </a:lnTo>
                  <a:lnTo>
                    <a:pt x="0" y="544726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856874" cy="60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08792" y="7925598"/>
            <a:ext cx="13670416" cy="1930742"/>
            <a:chOff x="0" y="0"/>
            <a:chExt cx="3856874" cy="54472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856874" cy="544726"/>
            </a:xfrm>
            <a:custGeom>
              <a:avLst/>
              <a:gdLst/>
              <a:ahLst/>
              <a:cxnLst/>
              <a:rect r="r" b="b" t="t" l="l"/>
              <a:pathLst>
                <a:path h="544726" w="3856874">
                  <a:moveTo>
                    <a:pt x="0" y="0"/>
                  </a:moveTo>
                  <a:lnTo>
                    <a:pt x="3856874" y="0"/>
                  </a:lnTo>
                  <a:lnTo>
                    <a:pt x="3856874" y="544726"/>
                  </a:lnTo>
                  <a:lnTo>
                    <a:pt x="0" y="544726"/>
                  </a:lnTo>
                  <a:close/>
                </a:path>
              </a:pathLst>
            </a:custGeom>
            <a:solidFill>
              <a:srgbClr val="63C457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856874" cy="601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5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195954" y="3712570"/>
            <a:ext cx="5896092" cy="1403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4"/>
              </a:lnSpc>
            </a:pPr>
            <a:r>
              <a:rPr lang="en-US" b="true" sz="2653" spc="21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E-commerce in Nepal is growing steadily</a:t>
            </a:r>
          </a:p>
          <a:p>
            <a:pPr algn="ctr">
              <a:lnSpc>
                <a:spcPts val="371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6195954" y="5991654"/>
            <a:ext cx="5896092" cy="923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4"/>
              </a:lnSpc>
            </a:pPr>
            <a:r>
              <a:rPr lang="en-US" b="true" sz="2653" spc="21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It offers large opportunities for businesses and consumers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95954" y="8270737"/>
            <a:ext cx="5896092" cy="2346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4"/>
              </a:lnSpc>
            </a:pPr>
            <a:r>
              <a:rPr lang="en-US" b="true" sz="2653" spc="21">
                <a:solidFill>
                  <a:srgbClr val="000000"/>
                </a:solidFill>
                <a:latin typeface="Neue Machina Ultra-Bold"/>
                <a:ea typeface="Neue Machina Ultra-Bold"/>
                <a:cs typeface="Neue Machina Ultra-Bold"/>
                <a:sym typeface="Neue Machina Ultra-Bold"/>
              </a:rPr>
              <a:t>With better technology and support, the future is very promising</a:t>
            </a:r>
          </a:p>
          <a:p>
            <a:pPr algn="ctr">
              <a:lnSpc>
                <a:spcPts val="3714"/>
              </a:lnSpc>
            </a:pPr>
          </a:p>
          <a:p>
            <a:pPr algn="ctr">
              <a:lnSpc>
                <a:spcPts val="3714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DAG5-LSWBvI</dc:identifier>
  <dcterms:modified xsi:type="dcterms:W3CDTF">2011-08-01T06:04:30Z</dcterms:modified>
  <cp:revision>1</cp:revision>
  <dc:title>E-commerce has grown rapidly. But the next stage is scaling. Expand your reach and maximize growth.</dc:title>
</cp:coreProperties>
</file>